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8040" y="160344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804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230520" y="368100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804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804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8040" y="368100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608040" y="160344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804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8040" y="368100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804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8040" y="368100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0520" y="368100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Master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804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09"/>
              </a:spcBef>
              <a:buNone/>
            </a:pP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8812800" y="6184080"/>
            <a:ext cx="3225240" cy="6728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39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8040" y="160344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19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79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3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39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3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8812800" y="6184080"/>
            <a:ext cx="3225240" cy="6728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39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8040" y="160344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69000" indent="-271080">
              <a:spcBef>
                <a:spcPts val="1409"/>
              </a:spcBef>
              <a:buClr>
                <a:srgbClr val="000000"/>
              </a:buClr>
              <a:buSzPct val="60000"/>
              <a:buFont typeface="Wingdings" charset="2"/>
              <a:buChar char=""/>
            </a:pPr>
            <a:r>
              <a:rPr b="0" lang="en-US" sz="319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177840" indent="-177840">
              <a:spcBef>
                <a:spcPts val="1125"/>
              </a:spcBef>
              <a:buClr>
                <a:srgbClr val="000000"/>
              </a:buClr>
              <a:buSzPct val="45000"/>
              <a:buFont typeface=""/>
              <a:buChar char=" "/>
            </a:pPr>
            <a:r>
              <a:rPr b="0" lang="en-US" sz="279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48000" indent="-216000">
              <a:spcBef>
                <a:spcPts val="83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39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3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864000" indent="-216000">
              <a:spcBef>
                <a:spcPts val="55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1080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1296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1512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2" r:id="rId4"/>
    <p:sldLayoutId id="2147483653" r:id="rId5"/>
    <p:sldLayoutId id="2147483654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2"/>
          <a:stretch/>
        </p:blipFill>
        <p:spPr>
          <a:xfrm>
            <a:off x="8812800" y="6184080"/>
            <a:ext cx="3225240" cy="67284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39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8040" y="160344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0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19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1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79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3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39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3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5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7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9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9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  <p:sldLayoutId id="2147483657" r:id="rId4"/>
    <p:sldLayoutId id="2147483658" r:id="rId5"/>
    <p:sldLayoutId id="2147483659" r:id="rId6"/>
    <p:sldLayoutId id="2147483660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0" y="-313560"/>
            <a:ext cx="12190320" cy="2762640"/>
          </a:xfrm>
          <a:prstGeom prst="rect">
            <a:avLst/>
          </a:prstGeom>
          <a:ln w="0">
            <a:noFill/>
          </a:ln>
        </p:spPr>
      </p:pic>
      <p:sp>
        <p:nvSpPr>
          <p:cNvPr id="37" name=""/>
          <p:cNvSpPr txBox="1"/>
          <p:nvPr/>
        </p:nvSpPr>
        <p:spPr>
          <a:xfrm>
            <a:off x="2445120" y="3169800"/>
            <a:ext cx="7154280" cy="83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000" strike="noStrike" u="none">
                <a:solidFill>
                  <a:srgbClr val="000000"/>
                </a:solidFill>
                <a:uFillTx/>
                <a:latin typeface="Calibri"/>
                <a:ea typeface="Calibri"/>
              </a:rPr>
              <a:t> </a:t>
            </a:r>
            <a:r>
              <a:rPr b="0" lang="en-US" sz="240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 </a:t>
            </a:r>
            <a:r>
              <a:rPr b="1" lang="en-US" sz="2400" strike="noStrike" u="none">
                <a:solidFill>
                  <a:srgbClr val="000000"/>
                </a:solidFill>
                <a:uFillTx/>
                <a:latin typeface="Tahoma"/>
                <a:ea typeface="Arial-BoldMT"/>
              </a:rPr>
              <a:t>Traffic Prediction Dataset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/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 txBox="1"/>
          <p:nvPr/>
        </p:nvSpPr>
        <p:spPr>
          <a:xfrm>
            <a:off x="685800" y="22860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2800" strike="noStrike" u="none">
                <a:solidFill>
                  <a:srgbClr val="000000"/>
                </a:solidFill>
                <a:uFillTx/>
                <a:latin typeface="Tahoma"/>
                <a:ea typeface="Calibri"/>
              </a:rPr>
              <a:t>Dataset Overview</a:t>
            </a:r>
            <a:endParaRPr b="1" lang="en-US" sz="28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85800" y="1600200"/>
            <a:ext cx="822960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69000" indent="-271080">
              <a:lnSpc>
                <a:spcPct val="90000"/>
              </a:lnSpc>
              <a:spcBef>
                <a:spcPts val="11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NewRomanPSMT"/>
                <a:ea typeface="TimesNewRomanPSMT"/>
              </a:rPr>
              <a:t>The dataset consists of traffic flow information collected over a period of two months 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lnSpc>
                <a:spcPct val="90000"/>
              </a:lnSpc>
              <a:spcBef>
                <a:spcPts val="11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NewRomanPSMT"/>
                <a:ea typeface="TimesNewRomanPSMT"/>
              </a:rPr>
              <a:t>It contains 5952 records with 9 columns.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lnSpc>
                <a:spcPct val="90000"/>
              </a:lnSpc>
              <a:spcBef>
                <a:spcPts val="11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NewRomanPSMT"/>
                <a:ea typeface="TimesNewRomanPSMT"/>
              </a:rPr>
              <a:t>The data includes vehicle-wise traffic count such as Cars, Bikes, Buses, Trucks. It also include date, time and day information.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lnSpc>
                <a:spcPct val="90000"/>
              </a:lnSpc>
              <a:spcBef>
                <a:spcPts val="11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NewRomanPSMT"/>
                <a:ea typeface="TimesNewRomanPSMT"/>
              </a:rPr>
              <a:t>The data set has 3  categorical and 6 numerical columns.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lnSpc>
                <a:spcPct val="90000"/>
              </a:lnSpc>
              <a:spcBef>
                <a:spcPts val="115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NewRomanPSMT"/>
                <a:ea typeface="TimesNewRomanPSMT"/>
              </a:rPr>
              <a:t>This dataset is suitable for Traffic analysis and Traffic situation prediction.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 txBox="1"/>
          <p:nvPr/>
        </p:nvSpPr>
        <p:spPr>
          <a:xfrm>
            <a:off x="836640" y="36396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2600" strike="noStrike" u="none">
                <a:solidFill>
                  <a:srgbClr val="000000"/>
                </a:solidFill>
                <a:uFillTx/>
                <a:latin typeface="Tahoma"/>
                <a:ea typeface="Calibri-Bold"/>
              </a:rPr>
              <a:t>Simple description of each column in your dataset:</a:t>
            </a:r>
            <a:endParaRPr b="0" lang="en-US" sz="26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36640" y="1824480"/>
            <a:ext cx="10515960" cy="4351320"/>
          </a:xfrm>
          <a:prstGeom prst="rect">
            <a:avLst/>
          </a:prstGeom>
          <a:noFill/>
          <a:ln w="12600">
            <a:noFill/>
          </a:ln>
        </p:spPr>
        <p:txBody>
          <a:bodyPr lIns="90000" rIns="90000" tIns="45000" bIns="45000" anchor="t">
            <a:normAutofit/>
          </a:bodyPr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Time: Time at which traffic data was recorded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Data: Date of traffic observation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Day of the week: Day on which traffic was recorded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CarCount: Number of cars observed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BikeCount: Number of bikes observed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BusCount: Number of busses observed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TruckCount: Number of truck observed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Total: Total number of vehicles recorded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  <a:p>
            <a:pPr marL="306000" indent="-191520">
              <a:lnSpc>
                <a:spcPct val="72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TimesNewRomanPSMT"/>
                <a:ea typeface="Calibri-BoldItalic"/>
              </a:rPr>
              <a:t>Traffic Situation: Traffic condition category (such as Low, Normal, or Heavy).</a:t>
            </a:r>
            <a:endParaRPr b="0" lang="en-US" sz="1790" strike="noStrike" u="none">
              <a:solidFill>
                <a:srgbClr val="000000"/>
              </a:solidFill>
              <a:uFillTx/>
              <a:latin typeface="TimesNewRomanPS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836640" y="363960"/>
            <a:ext cx="3926520" cy="83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2600" strike="noStrike" u="none">
                <a:solidFill>
                  <a:srgbClr val="000000"/>
                </a:solidFill>
                <a:uFillTx/>
                <a:latin typeface="Tahoma"/>
                <a:ea typeface="Calibri"/>
              </a:rPr>
              <a:t>Reading Dataset</a:t>
            </a:r>
            <a:endParaRPr b="1" lang="en-US" sz="26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619920" y="1143000"/>
            <a:ext cx="10124280" cy="502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648000" y="914400"/>
            <a:ext cx="5295600" cy="525780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-18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</a:rPr>
              <a:t>Basic checks</a:t>
            </a:r>
            <a:endParaRPr b="1" lang="en-US" sz="30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6172200" y="685800"/>
            <a:ext cx="5486400" cy="297180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6172200" y="3886200"/>
            <a:ext cx="5257800" cy="2286000"/>
          </a:xfrm>
          <a:prstGeom prst="rect">
            <a:avLst/>
          </a:prstGeom>
          <a:ln w="1908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 txBox="1"/>
          <p:nvPr/>
        </p:nvSpPr>
        <p:spPr>
          <a:xfrm>
            <a:off x="836640" y="36396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2600" strike="noStrike" u="none">
                <a:solidFill>
                  <a:srgbClr val="000000"/>
                </a:solidFill>
                <a:uFillTx/>
                <a:latin typeface="Tahoma"/>
                <a:ea typeface="Calibri-Bold"/>
              </a:rPr>
              <a:t>Preprocessing Techniques on Dataset Individual Columns</a:t>
            </a:r>
            <a:endParaRPr b="0" lang="en-US" sz="26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36640" y="1824480"/>
            <a:ext cx="1051596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82400" indent="-367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Calibri"/>
                <a:ea typeface="Calibri"/>
              </a:rPr>
              <a:t>Checking missing values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159880" y="2180160"/>
            <a:ext cx="6192720" cy="307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68200" indent="-268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There are No missing values in the dataset.There are no missing values in the dataset.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8200" indent="-268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All columns have 2,976 non-null entries.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8200" indent="-268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There may be outliers in vehicle count columns due to peak-hour traffic.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8200" indent="-268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 Date column is stored as an integer and may need conversion to a proper datetime format for time-series analysis</a:t>
            </a:r>
            <a:r>
              <a:rPr b="0" lang="en-US" sz="200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.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1143000" y="2365920"/>
            <a:ext cx="3733920" cy="38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 txBox="1"/>
          <p:nvPr/>
        </p:nvSpPr>
        <p:spPr>
          <a:xfrm>
            <a:off x="456840" y="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2500" strike="noStrike" u="none">
                <a:solidFill>
                  <a:srgbClr val="000000"/>
                </a:solidFill>
                <a:uFillTx/>
                <a:latin typeface="Tahoma"/>
                <a:ea typeface="Calibri"/>
              </a:rPr>
              <a:t>Understanding Categorical Data</a:t>
            </a:r>
            <a:endParaRPr b="1" lang="en-US" sz="25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685800" y="914400"/>
            <a:ext cx="4572000" cy="548640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/>
          </p:nvPr>
        </p:nvSpPr>
        <p:spPr>
          <a:xfrm>
            <a:off x="5751000" y="15091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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We obtained all the unique values and their counts for the categorical columns.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Day of the week: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Tuesday: 960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Wednesday: 960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Thursday: 960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Friday: 768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Saturday:768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Sunday: 768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Symbol" charset="2"/>
              <a:buChar char=""/>
            </a:pPr>
            <a:r>
              <a:rPr b="0" lang="en-US" sz="2200" strike="noStrike" u="none">
                <a:solidFill>
                  <a:srgbClr val="000000"/>
                </a:solidFill>
                <a:uFillTx/>
                <a:latin typeface="Arial"/>
              </a:rPr>
              <a:t>Monday: 768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1092240" y="457200"/>
            <a:ext cx="7823160" cy="559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Finally, from Phase 1 (Data Understanding), the following insights were obtained: 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 dataset contains 5,952 rows and 9 columns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There are 3 columns with categorical data and 6 columns with numerical data.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 categorical columns are: Time, Day of the week, and Traffic Situation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 numerical columns are: Date, CarCount, BikeCount, BusCount, TruckCount, and Total.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 Date and Time columns together act as temporal identifiers indicating when traffic data was recorded.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There are no missing values in the dataset.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There may be outliers in vehicle count columns due to peak-hour or unusual traffic conditions.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Traffic Situation can be considered the target variable for traffic classification or prediction tasks.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254160" indent="-25416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50" strike="noStrike" u="none">
                <a:solidFill>
                  <a:srgbClr val="000000"/>
                </a:solidFill>
                <a:uFillTx/>
                <a:latin typeface="Times New Roman"/>
                <a:ea typeface="ArialMT"/>
              </a:rPr>
              <a:t>All vehicle count columns are stored in numeric format, making them suitable for analysis.</a:t>
            </a:r>
            <a:endParaRPr b="0" lang="en-US" sz="185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685440" y="27468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  <a:ea typeface="Calibri"/>
              </a:rPr>
              <a:t>Handling Missing Data</a:t>
            </a:r>
            <a:endParaRPr b="1" lang="en-US" sz="30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6640" y="1824480"/>
            <a:ext cx="10515960" cy="435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82400" indent="-367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82400" indent="-367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82400" indent="-3679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"/>
              <a:buChar char=""/>
            </a:pPr>
            <a:r>
              <a:rPr b="1" i="1" lang="en-US" sz="2800" strike="noStrike" u="none">
                <a:solidFill>
                  <a:srgbClr val="000000"/>
                </a:solidFill>
                <a:uFillTx/>
                <a:latin typeface="Calibri-BoldItalic"/>
                <a:ea typeface="Calibri-BoldItalic"/>
              </a:rPr>
              <a:t> 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685800" y="1364760"/>
            <a:ext cx="5029200" cy="460944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5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1" lang="en-US" sz="2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b="0" lang="en-US" sz="2500" strike="noStrike" u="none">
                <a:solidFill>
                  <a:srgbClr val="000000"/>
                </a:solidFill>
                <a:uFillTx/>
                <a:latin typeface="Times New Roman"/>
              </a:rPr>
              <a:t>No missing values were found in the dataset.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b="0" lang="en-US" sz="2500" strike="noStrike" u="none">
                <a:solidFill>
                  <a:srgbClr val="000000"/>
                </a:solidFill>
                <a:uFillTx/>
                <a:latin typeface="Times New Roman"/>
              </a:rPr>
              <a:t>Therefore, no imputation or removal is required.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 txBox="1"/>
          <p:nvPr/>
        </p:nvSpPr>
        <p:spPr>
          <a:xfrm>
            <a:off x="836640" y="36396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  <a:ea typeface="Calibri"/>
              </a:rPr>
              <a:t>Removing duplicates</a:t>
            </a:r>
            <a:endParaRPr b="1" lang="en-US" sz="30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685800" y="1839240"/>
            <a:ext cx="5354280" cy="204696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623052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5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1" lang="en-US" sz="2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500" strike="noStrike" u="none">
                <a:solidFill>
                  <a:srgbClr val="000000"/>
                </a:solidFill>
                <a:uFillTx/>
                <a:latin typeface="Times New Roman"/>
              </a:rPr>
              <a:t>No duplicate records were found in the dataset.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2500" strike="noStrike" u="none">
                <a:solidFill>
                  <a:srgbClr val="000000"/>
                </a:solidFill>
                <a:uFillTx/>
                <a:latin typeface="Times New Roman"/>
              </a:rPr>
              <a:t>No rows were removed.</a:t>
            </a: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836640" y="36396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  <a:ea typeface="Calibri"/>
              </a:rPr>
              <a:t>Fix Inconsistencies in Categorical Data </a:t>
            </a:r>
            <a:endParaRPr b="1" lang="en-US" sz="30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342080" y="5359320"/>
            <a:ext cx="6004800" cy="48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trike="noStrike" u="none">
                <a:solidFill>
                  <a:srgbClr val="000000"/>
                </a:solidFill>
                <a:uFillTx/>
                <a:latin typeface="Arial-BoldMT"/>
                <a:ea typeface="Arial-BoldMT"/>
              </a:rPr>
              <a:t>Insights:</a:t>
            </a:r>
            <a:r>
              <a:rPr b="0" lang="en-US" sz="140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 There are no inconsistencies in the text data.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836640" y="1600200"/>
            <a:ext cx="5564160" cy="4568760"/>
          </a:xfrm>
          <a:prstGeom prst="rect">
            <a:avLst/>
          </a:prstGeom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/>
          </p:nvPr>
        </p:nvSpPr>
        <p:spPr>
          <a:xfrm>
            <a:off x="6400800" y="160344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1" lang="en-US" sz="2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Case and whitespace inconsistencies were fixed.</a:t>
            </a:r>
            <a:endParaRPr b="0" lang="en-US" sz="2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369000" indent="-27108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Categories are now standardized.</a:t>
            </a:r>
            <a:endParaRPr b="0" lang="en-US" sz="2000" strike="noStrike" u="none">
              <a:solidFill>
                <a:srgbClr val="000000"/>
              </a:solidFill>
              <a:uFillTx/>
              <a:latin typeface="Times New Roman"/>
            </a:endParaRPr>
          </a:p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 txBox="1"/>
          <p:nvPr/>
        </p:nvSpPr>
        <p:spPr>
          <a:xfrm>
            <a:off x="836640" y="363960"/>
            <a:ext cx="1051596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Calibri"/>
                <a:ea typeface="Calibri"/>
              </a:rPr>
              <a:t> 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</a:rPr>
              <a:t>Convert data types</a:t>
            </a:r>
            <a:endParaRPr b="1" lang="en-US" sz="30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868320" y="2971800"/>
            <a:ext cx="5761080" cy="2971800"/>
          </a:xfrm>
          <a:prstGeom prst="rect">
            <a:avLst/>
          </a:prstGeom>
          <a:ln w="0">
            <a:noFill/>
          </a:ln>
        </p:spPr>
      </p:pic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401520" y="3429000"/>
            <a:ext cx="10057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endParaRPr b="1" lang="en-US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69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752040" y="1417320"/>
            <a:ext cx="9992160" cy="132588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7086600" y="3497040"/>
            <a:ext cx="442152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Time is converted to datetime.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Traffic Situation is converted to category dtype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8040" y="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</a:rPr>
              <a:t> </a:t>
            </a:r>
            <a:r>
              <a:rPr b="1" lang="en-US" sz="3000" strike="noStrike" u="none">
                <a:solidFill>
                  <a:srgbClr val="000000"/>
                </a:solidFill>
                <a:uFillTx/>
                <a:latin typeface="Tahoma"/>
              </a:rPr>
              <a:t>Non-Visual Bivariate Analysis</a:t>
            </a:r>
            <a:br>
              <a:rPr sz="1600"/>
            </a:br>
            <a:endParaRPr b="1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48360" y="842400"/>
            <a:ext cx="3695040" cy="106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trike="noStrike" u="none">
                <a:solidFill>
                  <a:srgbClr val="000000"/>
                </a:solidFill>
                <a:uFillTx/>
                <a:latin typeface="Arial"/>
              </a:rPr>
              <a:t>Categorical vs Categorical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685800" y="1371600"/>
            <a:ext cx="5486400" cy="3200400"/>
          </a:xfrm>
          <a:prstGeom prst="rect">
            <a:avLst/>
          </a:prstGeom>
          <a:ln w="0">
            <a:noFill/>
          </a:ln>
        </p:spPr>
      </p:pic>
      <p:pic>
        <p:nvPicPr>
          <p:cNvPr id="76" name="" descr=""/>
          <p:cNvPicPr/>
          <p:nvPr/>
        </p:nvPicPr>
        <p:blipFill>
          <a:blip r:embed="rId2"/>
          <a:stretch/>
        </p:blipFill>
        <p:spPr>
          <a:xfrm>
            <a:off x="6481800" y="696240"/>
            <a:ext cx="5486400" cy="50292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 txBox="1"/>
          <p:nvPr/>
        </p:nvSpPr>
        <p:spPr>
          <a:xfrm>
            <a:off x="457200" y="4589640"/>
            <a:ext cx="5943600" cy="228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51"/>
              </a:spcBef>
              <a:spcAft>
                <a:spcPts val="11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The crosstab between Day of the week and Traffic Situation shows how traffic conditions vary across different days.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51"/>
              </a:spcBef>
              <a:spcAft>
                <a:spcPts val="11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Certain days exhibit a higher frequency of heavy traffic compared to others.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51"/>
              </a:spcBef>
              <a:spcAft>
                <a:spcPts val="11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The crosstab between Time and Traffic Situation highlights how traffic conditions change across different time periods.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51"/>
              </a:spcBef>
              <a:spcAft>
                <a:spcPts val="115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uFillTx/>
                <a:latin typeface="Times New Roman"/>
              </a:rPr>
              <a:t>Heavy traffic tends to occur more frequently during specific times of the day.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 txBox="1"/>
          <p:nvPr/>
        </p:nvSpPr>
        <p:spPr>
          <a:xfrm>
            <a:off x="648360" y="305280"/>
            <a:ext cx="3695040" cy="106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trike="noStrike" u="none">
                <a:solidFill>
                  <a:srgbClr val="000000"/>
                </a:solidFill>
                <a:uFillTx/>
                <a:latin typeface="Arial"/>
              </a:rPr>
              <a:t>Categorical vs Numerical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589320" y="1143000"/>
            <a:ext cx="5354280" cy="1844640"/>
          </a:xfrm>
          <a:prstGeom prst="rect">
            <a:avLst/>
          </a:prstGeom>
          <a:ln w="0">
            <a:noFill/>
          </a:ln>
        </p:spPr>
      </p:pic>
      <p:pic>
        <p:nvPicPr>
          <p:cNvPr id="80" name="" descr=""/>
          <p:cNvPicPr/>
          <p:nvPr/>
        </p:nvPicPr>
        <p:blipFill>
          <a:blip r:embed="rId2"/>
          <a:stretch/>
        </p:blipFill>
        <p:spPr>
          <a:xfrm>
            <a:off x="6400800" y="685800"/>
            <a:ext cx="5029200" cy="251460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3"/>
          <a:stretch/>
        </p:blipFill>
        <p:spPr>
          <a:xfrm>
            <a:off x="685800" y="3566520"/>
            <a:ext cx="5257800" cy="214848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4"/>
          <a:stretch/>
        </p:blipFill>
        <p:spPr>
          <a:xfrm>
            <a:off x="6400800" y="3429000"/>
            <a:ext cx="5029200" cy="228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685800" y="457200"/>
            <a:ext cx="3695040" cy="106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trike="noStrike" u="none">
                <a:solidFill>
                  <a:srgbClr val="000000"/>
                </a:solidFill>
                <a:uFillTx/>
                <a:latin typeface="Arial"/>
              </a:rPr>
              <a:t>Categorical vs Numerical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 rot="7200">
            <a:off x="404280" y="1833840"/>
            <a:ext cx="5079600" cy="216828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5715000" y="685800"/>
            <a:ext cx="6172200" cy="548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1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sng">
                <a:solidFill>
                  <a:srgbClr val="000000"/>
                </a:solidFill>
                <a:uFillTx/>
                <a:latin typeface="Times New Roman"/>
              </a:rPr>
              <a:t>Traffic Situation vs Total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The average total traffic increases from low to heavy traffic situations, confirming that traffic situations accurately reflect overall traffic volume.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sng">
                <a:solidFill>
                  <a:srgbClr val="000000"/>
                </a:solidFill>
                <a:uFillTx/>
                <a:latin typeface="Times New Roman"/>
              </a:rPr>
              <a:t>Day of the Week vs Total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The mean total traffic varies across days, indicating that certain days experience higher traffic levels than others.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sng">
                <a:solidFill>
                  <a:srgbClr val="000000"/>
                </a:solidFill>
                <a:uFillTx/>
                <a:latin typeface="Times New Roman"/>
              </a:rPr>
              <a:t>BikeCount by Day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Average bike traffic shows noticeable variation across days, suggesting changes in bike usage depending on the day of the week.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sng">
                <a:solidFill>
                  <a:srgbClr val="000000"/>
                </a:solidFill>
                <a:uFillTx/>
                <a:latin typeface="Times New Roman"/>
              </a:rPr>
              <a:t>CarCount by Day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Car traffic exhibits significant variation across days, reinforcing that cars are the dominant contributors to daily traffic volume.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sng">
                <a:solidFill>
                  <a:srgbClr val="000000"/>
                </a:solidFill>
                <a:uFillTx/>
                <a:latin typeface="Times New Roman"/>
              </a:rPr>
              <a:t>TruckCount by Day</a:t>
            </a: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500" strike="noStrike" u="none">
                <a:solidFill>
                  <a:srgbClr val="000000"/>
                </a:solidFill>
                <a:uFillTx/>
                <a:latin typeface="Times New Roman"/>
              </a:rPr>
              <a:t>Truck traffic remains relatively lower and more stable across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 txBox="1"/>
          <p:nvPr/>
        </p:nvSpPr>
        <p:spPr>
          <a:xfrm>
            <a:off x="685800" y="457200"/>
            <a:ext cx="3695040" cy="106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trike="noStrike" u="none">
                <a:solidFill>
                  <a:srgbClr val="000000"/>
                </a:solidFill>
                <a:uFillTx/>
                <a:latin typeface="Arial"/>
              </a:rPr>
              <a:t>Numerical vs Numerical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5715000" y="685800"/>
            <a:ext cx="6172200" cy="548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Insights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sng">
                <a:solidFill>
                  <a:srgbClr val="000000"/>
                </a:solidFill>
                <a:uFillTx/>
                <a:latin typeface="Times New Roman"/>
              </a:rPr>
              <a:t>CarCount vs Total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CarCount shows a strong positive correlation with Total, indicating that an increase in car traffic significantly increases overall traffic volume.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sng">
                <a:solidFill>
                  <a:srgbClr val="000000"/>
                </a:solidFill>
                <a:uFillTx/>
                <a:latin typeface="Times New Roman"/>
              </a:rPr>
              <a:t>BikeCount vs Total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BikeCount has a moderate positive correlation with Total, suggesting that bike traffic contributes to total traffic but less strongly than cars.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sng">
                <a:solidFill>
                  <a:srgbClr val="000000"/>
                </a:solidFill>
                <a:uFillTx/>
                <a:latin typeface="Times New Roman"/>
              </a:rPr>
              <a:t>TruckCount vs Total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TruckCount shows a weak to moderate positive correlation with Total, indicating that trucks add to traffic volume but are not the dominant contributors.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sng">
                <a:solidFill>
                  <a:srgbClr val="000000"/>
                </a:solidFill>
                <a:uFillTx/>
                <a:latin typeface="Times New Roman"/>
              </a:rPr>
              <a:t>BusCount vs Total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Times New Roman"/>
              </a:rPr>
              <a:t>BusCount has a weak correlation with Total, suggesting that buses have a minimal impact on overall traffic levels.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23640" y="1371600"/>
            <a:ext cx="5162760" cy="29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3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536400" y="289080"/>
            <a:ext cx="600480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trike="noStrike" u="none">
                <a:solidFill>
                  <a:srgbClr val="000000"/>
                </a:solidFill>
                <a:uFillTx/>
                <a:latin typeface="Tahoma"/>
                <a:ea typeface="TimesNewRomanPSMT"/>
              </a:rPr>
              <a:t>Multivariate Analysis</a:t>
            </a:r>
            <a:endParaRPr b="1" lang="en-US" sz="2000" strike="noStrike" u="none">
              <a:solidFill>
                <a:srgbClr val="000000"/>
              </a:solidFill>
              <a:uFillTx/>
              <a:latin typeface="Tahoma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457200" y="914400"/>
            <a:ext cx="6172200" cy="4800600"/>
          </a:xfrm>
          <a:prstGeom prst="rect">
            <a:avLst/>
          </a:prstGeom>
          <a:ln w="0">
            <a:noFill/>
          </a:ln>
        </p:spPr>
      </p:pic>
      <p:sp>
        <p:nvSpPr>
          <p:cNvPr id="95" name=""/>
          <p:cNvSpPr txBox="1"/>
          <p:nvPr/>
        </p:nvSpPr>
        <p:spPr>
          <a:xfrm>
            <a:off x="7192440" y="1042920"/>
            <a:ext cx="4694760" cy="421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Insights:</a:t>
            </a:r>
            <a:endParaRPr b="1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CarCount is consistently higher than BikeCount across all days of the week.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Darker color intensity for CarCount on weekdays indicates higher traffic volume.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BikeCount shows relatively stable values throughout the week compared to cars.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A slight increase in BikeCount can be observed on weekends.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Times New Roman"/>
              </a:rPr>
              <a:t>Overall traffic patterns are strongly influenced by weekday.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 txBox="1"/>
          <p:nvPr/>
        </p:nvSpPr>
        <p:spPr>
          <a:xfrm>
            <a:off x="649800" y="2223720"/>
            <a:ext cx="8265600" cy="234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The dataset is clean with no missing or duplicate values.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Categorical inconsistencies were resolved.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Data types were corrected for efficient analysis.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Bivariate analysis revealed meaningful traffic patterns.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790" strike="noStrike" u="none">
                <a:solidFill>
                  <a:srgbClr val="000000"/>
                </a:solidFill>
                <a:uFillTx/>
                <a:latin typeface="ArialMT"/>
                <a:ea typeface="ArialMT"/>
              </a:rPr>
              <a:t>The data is ready for further analysis or modeling.</a:t>
            </a: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endParaRPr b="0" lang="en-US" sz="179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8040" y="27252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3590" strike="noStrike" u="none">
                <a:solidFill>
                  <a:srgbClr val="000000"/>
                </a:solidFill>
                <a:uFillTx/>
                <a:latin typeface="Times New Roman"/>
              </a:rPr>
              <a:t>Conclusion:</a:t>
            </a:r>
            <a:endParaRPr b="1" lang="en-US" sz="359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6464880" y="1849680"/>
            <a:ext cx="4465800" cy="283428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 txBox="1"/>
          <p:nvPr/>
        </p:nvSpPr>
        <p:spPr>
          <a:xfrm>
            <a:off x="1289160" y="2996280"/>
            <a:ext cx="3570480" cy="145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400" strike="noStrike" u="none">
                <a:solidFill>
                  <a:srgbClr val="c00000"/>
                </a:solidFill>
                <a:uFillTx/>
                <a:latin typeface="Arial"/>
                <a:ea typeface="Arial"/>
              </a:rPr>
              <a:t>THANK YOU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Application>PPTX/25.2.0.0.alpha0$Windows_X86_64 LibreOffice_project/3ee53d75d253fb7fe2eb8db44afca95fda7f156d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2026-01-06T18:08:49Z</dcterms:modified>
  <cp:revision>33</cp:revision>
  <dc:subject/>
  <dc:title/>
</cp:coreProperties>
</file>